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</p:sldMasterIdLst>
  <p:sldIdLst>
    <p:sldId id="264" r:id="rId2"/>
    <p:sldId id="263" r:id="rId3"/>
    <p:sldId id="260" r:id="rId4"/>
    <p:sldId id="261" r:id="rId5"/>
    <p:sldId id="269" r:id="rId6"/>
    <p:sldId id="270" r:id="rId7"/>
    <p:sldId id="271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55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95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0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5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31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21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7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2532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81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26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3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22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6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CD36-B401-4F88-A7CA-59F20FB3962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F4A99-C642-4400-AC01-C6FA969CB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4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  <p:sldLayoutId id="2147483902" r:id="rId12"/>
    <p:sldLayoutId id="2147483903" r:id="rId13"/>
    <p:sldLayoutId id="2147483904" r:id="rId14"/>
    <p:sldLayoutId id="2147483905" r:id="rId15"/>
    <p:sldLayoutId id="2147483906" r:id="rId16"/>
    <p:sldLayoutId id="21474839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1284" y="385011"/>
            <a:ext cx="9914021" cy="2387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DIASASTER RECOVERY &amp; BUSINESS CONTINUITY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5738" y="3152859"/>
            <a:ext cx="4645111" cy="857667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Data Security </a:t>
            </a:r>
          </a:p>
        </p:txBody>
      </p:sp>
      <p:sp>
        <p:nvSpPr>
          <p:cNvPr id="4" name="Rectangle 3"/>
          <p:cNvSpPr/>
          <p:nvPr/>
        </p:nvSpPr>
        <p:spPr>
          <a:xfrm>
            <a:off x="6866021" y="4807868"/>
            <a:ext cx="367364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Presentation By,</a:t>
            </a:r>
          </a:p>
          <a:p>
            <a:pPr algn="ctr"/>
            <a:r>
              <a:rPr lang="en-US" dirty="0" err="1"/>
              <a:t>Ananthan</a:t>
            </a:r>
            <a:r>
              <a:rPr lang="en-US" dirty="0"/>
              <a:t> </a:t>
            </a:r>
            <a:r>
              <a:rPr lang="en-US" dirty="0" err="1"/>
              <a:t>Unni</a:t>
            </a:r>
            <a:endParaRPr lang="en-US" dirty="0"/>
          </a:p>
          <a:p>
            <a:pPr algn="ctr"/>
            <a:r>
              <a:rPr lang="en-US" dirty="0"/>
              <a:t>Athul </a:t>
            </a:r>
            <a:r>
              <a:rPr lang="en-US" dirty="0" err="1"/>
              <a:t>Thuvattu</a:t>
            </a:r>
            <a:r>
              <a:rPr lang="en-US" dirty="0"/>
              <a:t> </a:t>
            </a:r>
            <a:r>
              <a:rPr lang="en-US" dirty="0" err="1"/>
              <a:t>Parambath</a:t>
            </a:r>
            <a:endParaRPr lang="en-US" dirty="0"/>
          </a:p>
          <a:p>
            <a:pPr algn="ctr"/>
            <a:r>
              <a:rPr lang="en-US" dirty="0" err="1"/>
              <a:t>Varghees</a:t>
            </a:r>
            <a:r>
              <a:rPr lang="en-US" dirty="0"/>
              <a:t> </a:t>
            </a:r>
            <a:r>
              <a:rPr lang="en-US" dirty="0" err="1"/>
              <a:t>Kuruvilla</a:t>
            </a:r>
            <a:endParaRPr lang="en-US" dirty="0"/>
          </a:p>
          <a:p>
            <a:pPr algn="ctr"/>
            <a:r>
              <a:rPr lang="en-US" dirty="0"/>
              <a:t>Vishnu </a:t>
            </a:r>
            <a:r>
              <a:rPr lang="en-US" dirty="0" err="1"/>
              <a:t>Viswanath</a:t>
            </a:r>
            <a:r>
              <a:rPr lang="en-US" dirty="0"/>
              <a:t> </a:t>
            </a:r>
            <a:r>
              <a:rPr lang="en-US" dirty="0" err="1"/>
              <a:t>Thattarrkal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66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is Disaster Recovery &amp; Business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Continuity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critical functions continue during disruption (The show must go on)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departments involved , not only IT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Includes Planning, communication and testing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Ongoing commitment to organizational resilience.</a:t>
            </a: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Disaster Recovery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Restores  IT systems and data after disasters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backups and failover procedures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Measured by RTO &amp; RPO metrics</a:t>
            </a:r>
          </a:p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Enables rapid system restoration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59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320842"/>
            <a:ext cx="10353761" cy="1326321"/>
          </a:xfrm>
        </p:spPr>
        <p:txBody>
          <a:bodyPr/>
          <a:lstStyle/>
          <a:p>
            <a:r>
              <a:rPr lang="en-US" dirty="0" smtClean="0"/>
              <a:t>Why does this matter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647163"/>
            <a:ext cx="10353762" cy="369513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Cyber attacks </a:t>
            </a:r>
            <a:r>
              <a:rPr lang="en-US" dirty="0" smtClean="0"/>
              <a:t>:  Ransomware , Data breaches, Server disruptions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Human error</a:t>
            </a:r>
            <a:r>
              <a:rPr lang="en-US" dirty="0" smtClean="0"/>
              <a:t>:  Accidental deletion, misconfiguration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Hardware Failure</a:t>
            </a:r>
            <a:r>
              <a:rPr lang="en-US" dirty="0" smtClean="0"/>
              <a:t>:  Disc crash, power loss, network outage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Natural Disaster</a:t>
            </a:r>
            <a:r>
              <a:rPr lang="en-US" dirty="0" smtClean="0"/>
              <a:t>:  Fire, flood earthquake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Downtime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= revenue loss + reputation damage + regulatory fines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80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Design</a:t>
            </a:r>
            <a:r>
              <a:rPr lang="en-US" dirty="0" smtClean="0"/>
              <a:t> a complete DR/BC plan for a organization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Build</a:t>
            </a:r>
            <a:r>
              <a:rPr lang="en-US" dirty="0" smtClean="0"/>
              <a:t> virtual infrastructure simulating server services including backup server.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Implement</a:t>
            </a:r>
            <a:r>
              <a:rPr lang="en-US" dirty="0" smtClean="0"/>
              <a:t>  backup , monitoring and recovery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Test</a:t>
            </a:r>
            <a:r>
              <a:rPr lang="en-US" dirty="0" smtClean="0"/>
              <a:t> disruption scenario such as data loss, service failure, or system crash.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Confirm</a:t>
            </a:r>
            <a:r>
              <a:rPr lang="en-US" dirty="0" smtClean="0"/>
              <a:t> actual RTO and RPO target.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Document</a:t>
            </a:r>
            <a:r>
              <a:rPr lang="en-US" dirty="0" smtClean="0"/>
              <a:t> all procedures and lesson learned.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11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Production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Virtual Box  (Ubuntu LTS 24.04.3)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   web server </a:t>
            </a:r>
            <a:r>
              <a:rPr lang="en-US" dirty="0" err="1" smtClean="0"/>
              <a:t>vm</a:t>
            </a:r>
            <a:r>
              <a:rPr lang="en-US" dirty="0" smtClean="0"/>
              <a:t> :     Nginx web server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   </a:t>
            </a:r>
            <a:r>
              <a:rPr lang="en-US" dirty="0" err="1" smtClean="0"/>
              <a:t>db</a:t>
            </a:r>
            <a:r>
              <a:rPr lang="en-US" dirty="0" smtClean="0"/>
              <a:t> server </a:t>
            </a:r>
            <a:r>
              <a:rPr lang="en-US" dirty="0" err="1" smtClean="0"/>
              <a:t>vm</a:t>
            </a:r>
            <a:r>
              <a:rPr lang="en-US" dirty="0" smtClean="0"/>
              <a:t>    :     MySQL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    file server </a:t>
            </a:r>
            <a:r>
              <a:rPr lang="en-US" dirty="0" err="1" smtClean="0"/>
              <a:t>vm</a:t>
            </a:r>
            <a:r>
              <a:rPr lang="en-US" dirty="0" smtClean="0"/>
              <a:t>   :     Samba File sharing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    backup server   :    Centralized backup recovery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    monitoring </a:t>
            </a:r>
            <a:r>
              <a:rPr lang="en-US" dirty="0" err="1" smtClean="0"/>
              <a:t>vm</a:t>
            </a:r>
            <a:r>
              <a:rPr lang="en-US" dirty="0" smtClean="0"/>
              <a:t>    :  Real-time health monitoring, automate alerting, detection   windows: 1-5 minutes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789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Host-Only:  </a:t>
            </a:r>
            <a:r>
              <a:rPr lang="en-US" dirty="0" err="1" smtClean="0"/>
              <a:t>eg</a:t>
            </a:r>
            <a:r>
              <a:rPr lang="en-US" dirty="0" smtClean="0"/>
              <a:t> 10.0.0.0/24</a:t>
            </a:r>
          </a:p>
          <a:p>
            <a:r>
              <a:rPr lang="en-US" dirty="0" smtClean="0"/>
              <a:t>All VMs can communicate</a:t>
            </a:r>
          </a:p>
          <a:p>
            <a:r>
              <a:rPr lang="en-US" dirty="0" smtClean="0"/>
              <a:t>Isolate from external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3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Monitoring &amp; Alerting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CPU Usage Alerts : if  80%  for 5+ minutes</a:t>
            </a:r>
          </a:p>
          <a:p>
            <a:r>
              <a:rPr lang="en-US" dirty="0" smtClean="0"/>
              <a:t>Memory Alert</a:t>
            </a:r>
          </a:p>
          <a:p>
            <a:r>
              <a:rPr lang="en-US" dirty="0" smtClean="0"/>
              <a:t>Disk Space Alert </a:t>
            </a:r>
          </a:p>
          <a:p>
            <a:r>
              <a:rPr lang="en-US" dirty="0" smtClean="0"/>
              <a:t>Web server: HTTP health check </a:t>
            </a:r>
          </a:p>
          <a:p>
            <a:r>
              <a:rPr lang="en-US" smtClean="0"/>
              <a:t>Alert Flow: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75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Roles &amp; Responsibility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accent6"/>
                </a:solidFill>
              </a:rPr>
              <a:t>Project Manager</a:t>
            </a:r>
            <a:r>
              <a:rPr lang="en-US" dirty="0" smtClean="0"/>
              <a:t>:  Coordinate project and team, track milestones and ensure.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accent6"/>
                </a:solidFill>
              </a:rPr>
              <a:t>Virtual Infrastructure Engineer</a:t>
            </a:r>
            <a:r>
              <a:rPr lang="en-US" dirty="0" smtClean="0"/>
              <a:t>:  set up virtual machines, and services such as web, data base and file server.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accent6"/>
                </a:solidFill>
              </a:rPr>
              <a:t>Backup Specialist</a:t>
            </a:r>
            <a:r>
              <a:rPr lang="en-US" dirty="0" smtClean="0"/>
              <a:t>: Design backup strategy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accent6"/>
                </a:solidFill>
              </a:rPr>
              <a:t>Monitoring and Automation developer</a:t>
            </a:r>
            <a:r>
              <a:rPr lang="en-US" dirty="0" smtClean="0"/>
              <a:t>: Implement monitoring tools , check health such as storage , memory usage and alerts.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 smtClean="0"/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0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15" y="0"/>
            <a:ext cx="10353761" cy="1326321"/>
          </a:xfrm>
        </p:spPr>
        <p:txBody>
          <a:bodyPr/>
          <a:lstStyle/>
          <a:p>
            <a:r>
              <a:rPr lang="en-US" dirty="0" smtClean="0"/>
              <a:t>Phase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7792495"/>
              </p:ext>
            </p:extLst>
          </p:nvPr>
        </p:nvGraphicFramePr>
        <p:xfrm>
          <a:off x="818147" y="1020848"/>
          <a:ext cx="10521470" cy="548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821">
                  <a:extLst>
                    <a:ext uri="{9D8B030D-6E8A-4147-A177-3AD203B41FA5}">
                      <a16:colId xmlns:a16="http://schemas.microsoft.com/office/drawing/2014/main" val="3550172296"/>
                    </a:ext>
                  </a:extLst>
                </a:gridCol>
                <a:gridCol w="6398649">
                  <a:extLst>
                    <a:ext uri="{9D8B030D-6E8A-4147-A177-3AD203B41FA5}">
                      <a16:colId xmlns:a16="http://schemas.microsoft.com/office/drawing/2014/main" val="774884537"/>
                    </a:ext>
                  </a:extLst>
                </a:gridCol>
              </a:tblGrid>
              <a:tr h="4897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Phases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Implementation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636924"/>
                  </a:ext>
                </a:extLst>
              </a:tr>
              <a:tr h="812904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Planning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Define scopes, critical systems, RTO/RPO and roles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784409"/>
                  </a:ext>
                </a:extLst>
              </a:tr>
              <a:tr h="812904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Infrastructure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Setup Virtual machines, network, deploy web, DB and file services.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718741"/>
                  </a:ext>
                </a:extLst>
              </a:tr>
              <a:tr h="812904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Backup</a:t>
                      </a:r>
                      <a:endParaRPr lang="en-US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Build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rsych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scripts, schedule with cron, test restore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66652"/>
                  </a:ext>
                </a:extLst>
              </a:tr>
              <a:tr h="812904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Monitoring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Install Netdata, write health checks, set up alerts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045538"/>
                  </a:ext>
                </a:extLst>
              </a:tr>
              <a:tr h="812904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Testing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Simulate disasters, execute recovery and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measre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RTO and RPO.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5090"/>
                  </a:ext>
                </a:extLst>
              </a:tr>
              <a:tr h="5690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Documentation</a:t>
                      </a:r>
                      <a:endPara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Runbook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,Final report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519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00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&amp; Technologies We will use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4332955"/>
              </p:ext>
            </p:extLst>
          </p:nvPr>
        </p:nvGraphicFramePr>
        <p:xfrm>
          <a:off x="914400" y="2095500"/>
          <a:ext cx="10353676" cy="383379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176838">
                  <a:extLst>
                    <a:ext uri="{9D8B030D-6E8A-4147-A177-3AD203B41FA5}">
                      <a16:colId xmlns:a16="http://schemas.microsoft.com/office/drawing/2014/main" val="1745124927"/>
                    </a:ext>
                  </a:extLst>
                </a:gridCol>
                <a:gridCol w="5176838">
                  <a:extLst>
                    <a:ext uri="{9D8B030D-6E8A-4147-A177-3AD203B41FA5}">
                      <a16:colId xmlns:a16="http://schemas.microsoft.com/office/drawing/2014/main" val="3784727414"/>
                    </a:ext>
                  </a:extLst>
                </a:gridCol>
              </a:tblGrid>
              <a:tr h="60792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Category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Tools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399958"/>
                  </a:ext>
                </a:extLst>
              </a:tr>
              <a:tr h="607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Virtualization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Virtual box, Ubuntu server</a:t>
                      </a:r>
                      <a:r>
                        <a:rPr lang="en-US" sz="2000" baseline="0" dirty="0" smtClean="0"/>
                        <a:t> 24.04</a:t>
                      </a:r>
                      <a:r>
                        <a:rPr lang="en-US" sz="2000" dirty="0" smtClean="0"/>
                        <a:t>  LTS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284942"/>
                  </a:ext>
                </a:extLst>
              </a:tr>
              <a:tr h="607929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Backup</a:t>
                      </a:r>
                      <a:endParaRPr lang="en-US" sz="20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rsync, Python 3, cron</a:t>
                      </a:r>
                      <a:r>
                        <a:rPr lang="en-US" sz="2000" baseline="0" dirty="0" smtClean="0"/>
                        <a:t> scheduling</a:t>
                      </a:r>
                      <a:endParaRPr lang="en-US" sz="2000" dirty="0" smtClean="0"/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491785"/>
                  </a:ext>
                </a:extLst>
              </a:tr>
              <a:tr h="607929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Monitoring</a:t>
                      </a:r>
                      <a:endParaRPr lang="en-US" sz="20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Netdata, psutil, smtplib(email alerts)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831063"/>
                  </a:ext>
                </a:extLst>
              </a:tr>
              <a:tr h="607929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Automation</a:t>
                      </a:r>
                      <a:endParaRPr lang="en-US" sz="20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Python</a:t>
                      </a:r>
                      <a:r>
                        <a:rPr lang="en-US" sz="2000" baseline="0" dirty="0" smtClean="0"/>
                        <a:t> , Ansible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387868"/>
                  </a:ext>
                </a:extLst>
              </a:tr>
              <a:tr h="607929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Documentation</a:t>
                      </a:r>
                      <a:endParaRPr lang="en-US" sz="20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Draw.io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371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8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1500" b="1" dirty="0" smtClean="0"/>
              <a:t>Thank  You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218558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394</TotalTime>
  <Words>458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Bookman Old Style</vt:lpstr>
      <vt:lpstr>Rockwell</vt:lpstr>
      <vt:lpstr>Wingdings</vt:lpstr>
      <vt:lpstr>Damask</vt:lpstr>
      <vt:lpstr>DIASASTER RECOVERY &amp; BUSINESS CONTINUITY</vt:lpstr>
      <vt:lpstr>What is Disaster Recovery &amp; Business Continuity</vt:lpstr>
      <vt:lpstr>Why does this matter ?</vt:lpstr>
      <vt:lpstr>Lab objectives</vt:lpstr>
      <vt:lpstr>Production server</vt:lpstr>
      <vt:lpstr>Network</vt:lpstr>
      <vt:lpstr>Monitoring &amp; Alerting</vt:lpstr>
      <vt:lpstr>Team Roles &amp; Responsibility</vt:lpstr>
      <vt:lpstr>Phase </vt:lpstr>
      <vt:lpstr>Tools &amp; Technologies We will use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DIASASTER RECOVERY &amp; BUSINESS CONTINUITY</dc:title>
  <dc:creator>Athul Tp</dc:creator>
  <cp:lastModifiedBy>Athul Tp</cp:lastModifiedBy>
  <cp:revision>21</cp:revision>
  <dcterms:created xsi:type="dcterms:W3CDTF">2025-12-04T09:07:48Z</dcterms:created>
  <dcterms:modified xsi:type="dcterms:W3CDTF">2025-12-04T15:47:14Z</dcterms:modified>
</cp:coreProperties>
</file>